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</ns0:sldIdLst>
  <ns0:sldSz cx="12192000" cy="6858000" type="screen4x3"/>
  <ns0:notesSz cx="6858000" cy="9144000"/>
  <ns0:embeddedFontLst>
    <ns0:embeddedFont>
      <ns0:font typeface="Plus Jakarta Sans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Font22" Type="http://schemas.openxmlformats.org/officeDocument/2006/relationships/font" Target="fonts/bc959e3c-0cb7-43da-9fea-e4bd9ead61bc.fntdata" /><ns0:Relationship Id="rIdFont23" Type="http://schemas.openxmlformats.org/officeDocument/2006/relationships/font" Target="fonts/d5d696b0-7540-4a9f-b241-6a06fa922c3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175444"/>
            <a:ext cx="7620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4082355"/>
            <a:ext cx="6191250" cy="1600200"/>
          </a:xfrm>
          <a:prstGeom prst="roundRect">
            <a:avLst>
              <a:gd name="adj" fmla="val 952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082355"/>
            <a:ext cx="38100" cy="1600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537394"/>
            <a:ext cx="10101262" cy="140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b="1" sz="4800" i="0" u="none">
                <a:solidFill>
                  <a:srgbClr val="F8FAFC"/>
                </a:solidFill>
                <a:latin typeface="Plus Jakarta Sans"/>
              </a:rPr>
              <a:t>Arsitektur, Antarmuka, dan Manajemen Data Android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91755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94A3B8"/>
                </a:solidFill>
                <a:latin typeface="Plus Jakarta Sans"/>
              </a:rPr>
              <a:t>Rangkuman Komprehensif Materi Bab 1 –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" y="4387155"/>
            <a:ext cx="692943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SURIO PARCHO ROBERTHO PURBA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5139630"/>
            <a:ext cx="6929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4A3B8"/>
                </a:solidFill>
                <a:latin typeface="Plus Jakarta Sans"/>
              </a:rPr>
              <a:t>Mata Kuliah:</a:t>
            </a:r>
            <a:r>
              <a:rPr b="0" sz="1500" i="0" u="none">
                <a:solidFill>
                  <a:srgbClr val="CBD5E1"/>
                </a:solidFill>
                <a:latin typeface="Plus Jakarta Sans"/>
              </a:rPr>
              <a:t> Pemrograman Mobile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4787205"/>
            <a:ext cx="16192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4A3B8"/>
                </a:solidFill>
                <a:latin typeface="Plus Jakarta Sans"/>
              </a:rPr>
              <a:t>NIM:</a:t>
            </a:r>
            <a:r>
              <a:rPr b="0" sz="1500" i="0" u="none">
                <a:solidFill>
                  <a:srgbClr val="CBD5E1"/>
                </a:solidFill>
                <a:latin typeface="Plus Jakarta Sans"/>
              </a:rPr>
              <a:t> 2302244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5100" y="4787205"/>
            <a:ext cx="1476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4A3B8"/>
                </a:solidFill>
                <a:latin typeface="Plus Jakarta Sans"/>
              </a:rPr>
              <a:t>Kelas:</a:t>
            </a:r>
            <a:r>
              <a:rPr b="0" sz="1500" i="0" u="none">
                <a:solidFill>
                  <a:srgbClr val="CBD5E1"/>
                </a:solidFill>
                <a:latin typeface="Plus Jakarta Sans"/>
              </a:rPr>
              <a:t> 23s04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676275"/>
            <a:ext cx="885825" cy="352425"/>
          </a:xfrm>
          <a:prstGeom prst="roundRect">
            <a:avLst>
              <a:gd name="adj" fmla="val 1621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62600" y="1814512"/>
            <a:ext cx="5867400" cy="4324350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62600" y="1814512"/>
            <a:ext cx="76200" cy="43243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52475"/>
            <a:ext cx="6762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BAB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225" y="609600"/>
            <a:ext cx="6275784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Arsitektur Sistem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009007"/>
            <a:ext cx="4286250" cy="170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Tumpukan perangkat lunak berbasis Linux untuk manajemen mobilitas tingkat tinggi.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9800" y="2195512"/>
            <a:ext cx="61722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Linux Kernel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9800" y="2557462"/>
            <a:ext cx="51244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Plus Jakarta Sans"/>
              </a:rPr>
              <a:t>Pondasi utama pengelola memori tingkat rendah. Penyedia sistem keamanan driver perangkat keras.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800" y="3662362"/>
            <a:ext cx="61722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Android Runtime (ART)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800" y="4024312"/>
            <a:ext cx="5124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Plus Jakarta Sans"/>
              </a:rPr>
              <a:t>Mesin pengeksekusi proses aplikasi independen. Pengganti optimalisasi Dalvik Virtual Machine.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4862512"/>
            <a:ext cx="61722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Java API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9800" y="5224462"/>
            <a:ext cx="5124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Plus Jakarta Sans"/>
              </a:rPr>
              <a:t>Kumpulan pustaka penghubung antarmuka. Jembatan akses pengembang menuju sistem inti.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676275"/>
            <a:ext cx="885825" cy="352425"/>
          </a:xfrm>
          <a:prstGeom prst="roundRect">
            <a:avLst>
              <a:gd name="adj" fmla="val 1621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2976562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014787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814887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52475"/>
            <a:ext cx="6762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BAB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225" y="609600"/>
            <a:ext cx="6038254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Struktur Direktori Proyek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0" y="2176462"/>
            <a:ext cx="8477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Plus Jakarta Sans"/>
              </a:rPr>
              <a:t>Deklarasi identitas komponen aplikasi. Pengelola perizinan akses fitur sistem perangkat keras.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0" y="3214687"/>
            <a:ext cx="8477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Plus Jakarta Sans"/>
              </a:rPr>
              <a:t>Wadah paket kode logika program. Pusat penulisan perilaku fungsional kelas aktivitas.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0" y="4276725"/>
            <a:ext cx="9144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Plus Jakarta Sans"/>
              </a:rPr>
              <a:t>Gudang aset sumber daya visual. Penyimpan kerangka tata letak XML.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0" y="5053012"/>
            <a:ext cx="8477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Plus Jakarta Sans"/>
              </a:rPr>
              <a:t>Pusat kendali versi kompilasi. Pengelola integrasi pustaka dependensi eksternal.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295525"/>
            <a:ext cx="238125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B82F6"/>
                </a:solidFill>
                <a:latin typeface="Plus Jakarta Sans"/>
              </a:rPr>
              <a:t>manifests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333750"/>
            <a:ext cx="238125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252912"/>
            <a:ext cx="238125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172075"/>
            <a:ext cx="238125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64748B"/>
                </a:solidFill>
                <a:latin typeface="Plus Jakarta Sans"/>
              </a:rPr>
              <a:t>build.gradle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676275"/>
            <a:ext cx="914400" cy="352425"/>
          </a:xfrm>
          <a:prstGeom prst="roundRect">
            <a:avLst>
              <a:gd name="adj" fmla="val 1621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552575"/>
            <a:ext cx="5105400" cy="4695825"/>
          </a:xfrm>
          <a:prstGeom prst="roundRect">
            <a:avLst>
              <a:gd name="adj" fmla="val 32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1552575"/>
            <a:ext cx="5105400" cy="4695825"/>
          </a:xfrm>
          <a:prstGeom prst="roundRect">
            <a:avLst>
              <a:gd name="adj" fmla="val 32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552575"/>
            <a:ext cx="51054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2438400"/>
            <a:ext cx="43434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4600" y="1552575"/>
            <a:ext cx="5105400" cy="571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05600" y="2438400"/>
            <a:ext cx="43434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52475"/>
            <a:ext cx="704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Plus Jakarta Sans"/>
              </a:rPr>
              <a:t>BAB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09600"/>
            <a:ext cx="6588323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Transisi Daur Hidup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990725"/>
            <a:ext cx="4660582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Fase Inisialisasi Latar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1990725"/>
            <a:ext cx="4660582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Fase Terminasi Sistem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86050"/>
            <a:ext cx="54292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B82F6"/>
                </a:solidFill>
                <a:latin typeface="Plus Jakarta Sans"/>
              </a:rPr>
              <a:t>onCreate()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048000"/>
            <a:ext cx="44386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Alokasi ruang memori sistem pertama. Pembentukan struktur hierarki komponen visual.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52850"/>
            <a:ext cx="54292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B82F6"/>
                </a:solidFill>
                <a:latin typeface="Plus Jakarta Sans"/>
              </a:rPr>
              <a:t>onStart()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114800"/>
            <a:ext cx="44386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Antarmuka memasuki status terlihat. Persiapan penerimaan instruksi pengguna.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819650"/>
            <a:ext cx="54292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B82F6"/>
                </a:solidFill>
                <a:latin typeface="Plus Jakarta Sans"/>
              </a:rPr>
              <a:t>onResume()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181600"/>
            <a:ext cx="44386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Pengambilan fokus kontrol penuh. Eksekusi aktivitas interaksi sentuhan.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5600" y="2686050"/>
            <a:ext cx="54292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F4444"/>
                </a:solidFill>
                <a:latin typeface="Plus Jakarta Sans"/>
              </a:rPr>
              <a:t>onPause()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600" y="3048000"/>
            <a:ext cx="44386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Kehilangan fokus layar depan. Penghentian sementara pembaruan visual.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600" y="3752850"/>
            <a:ext cx="54292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F4444"/>
                </a:solidFill>
                <a:latin typeface="Plus Jakarta Sans"/>
              </a:rPr>
              <a:t>onStop()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600" y="4114800"/>
            <a:ext cx="44386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Layar tertutup tampilan eksternal total. Pelepasan porsi sumber daya.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600" y="4819650"/>
            <a:ext cx="54292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F4444"/>
                </a:solidFill>
                <a:latin typeface="Plus Jakarta Sans"/>
              </a:rPr>
              <a:t>onDestroy()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600" y="5181600"/>
            <a:ext cx="44386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Penghancuran proses aktivitas sistem. Pembersihan sisa alokasi memori permanen.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676275"/>
            <a:ext cx="914400" cy="352425"/>
          </a:xfrm>
          <a:prstGeom prst="roundRect">
            <a:avLst>
              <a:gd name="adj" fmla="val 1621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6475" y="2833687"/>
            <a:ext cx="19050" cy="2286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3024187"/>
            <a:ext cx="4714875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15125" y="3024187"/>
            <a:ext cx="4714875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52475"/>
            <a:ext cx="704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Plus Jakarta Sans"/>
              </a:rPr>
              <a:t>BAB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09600"/>
            <a:ext cx="7863482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Komponen Pendukung Mobilitas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481262"/>
            <a:ext cx="50506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Intent Penghubung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2481262"/>
            <a:ext cx="50506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Fragment Modular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281362"/>
            <a:ext cx="5893593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B82F6"/>
                </a:solidFill>
                <a:latin typeface="Plus Jakarta Sans"/>
              </a:rPr>
              <a:t>Metode Eksplisit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690937"/>
            <a:ext cx="481012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Plus Jakarta Sans"/>
              </a:rPr>
              <a:t>Pemanggilan target kelas terdaftar spesifik. Transisi halaman lingkup aplikasi internal.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529137"/>
            <a:ext cx="5893593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B82F6"/>
                </a:solidFill>
                <a:latin typeface="Plus Jakarta Sans"/>
              </a:rPr>
              <a:t>Metode Implisit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938712"/>
            <a:ext cx="481012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Plus Jakarta Sans"/>
              </a:rPr>
              <a:t>Pendelegasian aksi tanpa nama kelas. Pemanfaatan fungsi aplikasi eksternal ponsel.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3281362"/>
            <a:ext cx="54768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Fleksibilitas Desain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3690937"/>
            <a:ext cx="481012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Plus Jakarta Sans"/>
              </a:rPr>
              <a:t>Potongan tata letak dapat diulang. Solusi adaptasi ukuran layar tablet.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4529137"/>
            <a:ext cx="54768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Siklus Ketergantungan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4938712"/>
            <a:ext cx="481012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Plus Jakarta Sans"/>
              </a:rPr>
              <a:t>Penempelan siklus pada aktivitas induk. Pembebasan kewajiban registrasi file manifes.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676275"/>
            <a:ext cx="914400" cy="352425"/>
          </a:xfrm>
          <a:prstGeom prst="roundRect">
            <a:avLst>
              <a:gd name="adj" fmla="val 16216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62600" y="1552575"/>
            <a:ext cx="5867400" cy="5000625"/>
          </a:xfrm>
          <a:prstGeom prst="roundRect">
            <a:avLst>
              <a:gd name="adj" fmla="val 3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62600" y="1552575"/>
            <a:ext cx="76200" cy="50006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966912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3481387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4995862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752475"/>
            <a:ext cx="704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BAB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09600"/>
            <a:ext cx="7538442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Hierarki Pembentuk Antarmuka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184326"/>
            <a:ext cx="5500687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Kondisi Visualisasi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61507"/>
            <a:ext cx="42862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75569"/>
                </a:solidFill>
                <a:latin typeface="Plus Jakarta Sans"/>
              </a:rPr>
              <a:t>Elemen dasar penyusun cetak biru layar. Komponen penjamin pengalaman pengguna mulus.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2343150"/>
            <a:ext cx="47053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Plus Jakarta Sans"/>
              </a:rPr>
              <a:t>Komponen blok pembangun dasar. Elemen tunggal layar interaktif. Penerima input klik langsung.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3857625"/>
            <a:ext cx="47053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Plus Jakarta Sans"/>
              </a:rPr>
              <a:t>Kontainer tak terlihat pembungkus elemen. Pengatur koordinat posisi anak. Penentu kerangka tata letak.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5372100"/>
            <a:ext cx="47053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Plus Jakarta Sans"/>
              </a:rPr>
              <a:t>Jendela pop-up peringatan singkat. Penutupan durasi waktu otomatis. Elemen non-blokir antarmuka.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1933575"/>
            <a:ext cx="1893093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Objek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3448050"/>
            <a:ext cx="3083718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Wadah ViewGroup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4962525"/>
            <a:ext cx="1893093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Pesan Toast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676275"/>
            <a:ext cx="914400" cy="352425"/>
          </a:xfrm>
          <a:prstGeom prst="roundRect">
            <a:avLst>
              <a:gd name="adj" fmla="val 16216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699420"/>
            <a:ext cx="266700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213770"/>
            <a:ext cx="30480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728120"/>
            <a:ext cx="200025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752475"/>
            <a:ext cx="704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BAB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09600"/>
            <a:ext cx="6225778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Mekanisme RecyclerView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953642"/>
            <a:ext cx="11430000" cy="42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Standar pemrosesan mutakhir untuk presentasi himpunan data panjang.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3685133"/>
            <a:ext cx="109728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Plus Jakarta Sans"/>
              </a:rPr>
              <a:t>Daur ulang komponen visual tersembunyi. Penghematan konsumsi alokasi memori.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300" y="4199483"/>
            <a:ext cx="1059656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Plus Jakarta Sans"/>
              </a:rPr>
              <a:t>Pemanfaatan pola ViewHolder wajib. Pencegahan inisialisasi ulang berlebihan.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713833"/>
            <a:ext cx="107632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Plus Jakarta Sans"/>
              </a:rPr>
              <a:t>Integrasi Adapter sebagai penghubung mutlak. Pemisah logika data antarmuka.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676275"/>
            <a:ext cx="923925" cy="352425"/>
          </a:xfrm>
          <a:prstGeom prst="roundRect">
            <a:avLst>
              <a:gd name="adj" fmla="val 16216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552575"/>
            <a:ext cx="5095875" cy="4695825"/>
          </a:xfrm>
          <a:prstGeom prst="roundRect">
            <a:avLst>
              <a:gd name="adj" fmla="val 32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15075" y="1552575"/>
            <a:ext cx="5114925" cy="4695825"/>
          </a:xfrm>
          <a:prstGeom prst="roundRect">
            <a:avLst>
              <a:gd name="adj" fmla="val 3245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525" y="2476500"/>
            <a:ext cx="4314825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15125" y="2486025"/>
            <a:ext cx="4314825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52475"/>
            <a:ext cx="7143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B2777"/>
                </a:solidFill>
                <a:latin typeface="Plus Jakarta Sans"/>
              </a:rPr>
              <a:t>BAB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8325" y="609600"/>
            <a:ext cx="8301037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Penjadwalan Tugas Latar Belakang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1943100"/>
            <a:ext cx="463057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Alarm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1952625"/>
            <a:ext cx="463057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Job Scheduler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2838450"/>
            <a:ext cx="44100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EF4444"/>
                </a:solidFill>
                <a:latin typeface="Plus Jakarta Sans"/>
              </a:rPr>
              <a:t>×</a:t>
            </a:r>
            <a:r>
              <a:rPr b="0" sz="1650" i="0" u="none">
                <a:solidFill>
                  <a:srgbClr val="475569"/>
                </a:solidFill>
                <a:latin typeface="Plus Jakarta Sans"/>
              </a:rPr>
              <a:t> Eksekusi paksa waktu repetitif pasti.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3333750"/>
            <a:ext cx="44100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EF4444"/>
                </a:solidFill>
                <a:latin typeface="Plus Jakarta Sans"/>
              </a:rPr>
              <a:t>×</a:t>
            </a:r>
            <a:r>
              <a:rPr b="0" sz="1650" i="0" u="none">
                <a:solidFill>
                  <a:srgbClr val="475569"/>
                </a:solidFill>
                <a:latin typeface="Plus Jakarta Sans"/>
              </a:rPr>
              <a:t> Pemicu kebangkitan paksa mode tidur.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3829050"/>
            <a:ext cx="44100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EF4444"/>
                </a:solidFill>
                <a:latin typeface="Plus Jakarta Sans"/>
              </a:rPr>
              <a:t>×</a:t>
            </a:r>
            <a:r>
              <a:rPr b="0" sz="1650" i="0" u="none">
                <a:solidFill>
                  <a:srgbClr val="475569"/>
                </a:solidFill>
                <a:latin typeface="Plus Jakarta Sans"/>
              </a:rPr>
              <a:t> Penghapusan memori otomatis saat reboot.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2847975"/>
            <a:ext cx="44100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✓</a:t>
            </a:r>
            <a:r>
              <a:rPr b="0" sz="1650" i="0" u="none">
                <a:solidFill>
                  <a:srgbClr val="475569"/>
                </a:solidFill>
                <a:latin typeface="Plus Jakarta Sans"/>
              </a:rPr>
              <a:t> Pembatasan eksekusi bersyarat (WiFi/Charging).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3609975"/>
            <a:ext cx="44100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✓</a:t>
            </a:r>
            <a:r>
              <a:rPr b="0" sz="1650" i="0" u="none">
                <a:solidFill>
                  <a:srgbClr val="475569"/>
                </a:solidFill>
                <a:latin typeface="Plus Jakarta Sans"/>
              </a:rPr>
              <a:t> Optimalisasi penghematan daya baterai ekstrim.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4371975"/>
            <a:ext cx="44100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✓</a:t>
            </a:r>
            <a:r>
              <a:rPr b="0" sz="1650" i="0" u="none">
                <a:solidFill>
                  <a:srgbClr val="475569"/>
                </a:solidFill>
                <a:latin typeface="Plus Jakarta Sans"/>
              </a:rPr>
              <a:t> Keberlangsungan jadwal melampaui proses restart.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676275"/>
            <a:ext cx="923925" cy="352425"/>
          </a:xfrm>
          <a:prstGeom prst="roundRect">
            <a:avLst>
              <a:gd name="adj" fmla="val 16216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52475"/>
            <a:ext cx="7143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B2777"/>
                </a:solidFill>
                <a:latin typeface="Plus Jakarta Sans"/>
              </a:rPr>
              <a:t>BAB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38325" y="609600"/>
            <a:ext cx="5913239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Atribut Notifikasi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896492"/>
            <a:ext cx="11430000" cy="426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Peringatan interaktif penyampai pesan di luar area aplikasi aktif.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27983"/>
            <a:ext cx="11430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Notification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989933"/>
            <a:ext cx="11430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Struktur wajib identifikasi kategori (API 26+). Penyesuaian pengaturan prioritas tingkat pengguna.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456658"/>
            <a:ext cx="11430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Pending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818608"/>
            <a:ext cx="11430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Bungkus pendelegasian hak akses aplikasi. Pemicu perpindahan halaman tujuan paska klik.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676275"/>
            <a:ext cx="914400" cy="352425"/>
          </a:xfrm>
          <a:prstGeom prst="roundRect">
            <a:avLst>
              <a:gd name="adj" fmla="val 16216"/>
            </a:avLst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3452812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491037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52475"/>
            <a:ext cx="704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026D3"/>
                </a:solidFill>
                <a:latin typeface="Plus Jakarta Sans"/>
              </a:rPr>
              <a:t>BAB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609600"/>
            <a:ext cx="760095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Manajemen Penyimpanan Lokal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3800" y="2652712"/>
            <a:ext cx="779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Plus Jakarta Sans"/>
              </a:rPr>
              <a:t>Penyimpanan konfigurasi ringan bentuk Key-Value. Pemelihara data pengaturan preferensi privasi.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3800" y="3690937"/>
            <a:ext cx="779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Plus Jakarta Sans"/>
              </a:rPr>
              <a:t>Direktori penyimpanan memori perangkat mutlak. Proteksi pengisolasian akses pengguna luar.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3800" y="4729162"/>
            <a:ext cx="779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Plus Jakarta Sans"/>
              </a:rPr>
              <a:t>Fasilitas berbagi dokumen media skala besar. Persyaratan perizinan manifes baca tulis mutlak.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71775"/>
            <a:ext cx="333375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B82F6"/>
                </a:solidFill>
                <a:latin typeface="Plus Jakarta Sans"/>
              </a:rPr>
              <a:t>Shared Preferences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810000"/>
            <a:ext cx="333375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Internal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848225"/>
            <a:ext cx="333375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External 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676275"/>
            <a:ext cx="914400" cy="352425"/>
          </a:xfrm>
          <a:prstGeom prst="roundRect">
            <a:avLst>
              <a:gd name="adj" fmla="val 16216"/>
            </a:avLst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10275" y="2824162"/>
            <a:ext cx="5419725" cy="2305050"/>
          </a:xfrm>
          <a:prstGeom prst="roundRect">
            <a:avLst>
              <a:gd name="adj" fmla="val 66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43262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738562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233862"/>
            <a:ext cx="2857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752475"/>
            <a:ext cx="704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026D3"/>
                </a:solidFill>
                <a:latin typeface="Plus Jakarta Sans"/>
              </a:rPr>
              <a:t>BAB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09600"/>
            <a:ext cx="7475934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Kekuatan Basis Data Relasional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073747"/>
            <a:ext cx="608826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SQLite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850927"/>
            <a:ext cx="473392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75569"/>
                </a:solidFill>
                <a:latin typeface="Plus Jakarta Sans"/>
              </a:rPr>
              <a:t>Mesin pangkalan data ringan tanpa server. Solusi pencatatan kompleks terstruktur luring mutlak.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800" y="3214687"/>
            <a:ext cx="522684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"/>
              </a:rPr>
              <a:t>Penyimpanan arsitektur tabel kolom baris.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3225" y="3709987"/>
            <a:ext cx="51196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"/>
              </a:rPr>
              <a:t>Eksekusi operasi kueri baku CRUD penuh.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8950" y="4205287"/>
            <a:ext cx="42957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"/>
              </a:rPr>
              <a:t>Integrasi wajib ekstensi kelas SQLiteOpenHelper.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676275"/>
            <a:ext cx="914400" cy="352425"/>
          </a:xfrm>
          <a:prstGeom prst="roundRect">
            <a:avLst>
              <a:gd name="adj" fmla="val 16216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6475" y="2471737"/>
            <a:ext cx="19050" cy="28575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52475"/>
            <a:ext cx="704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BAB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09600"/>
            <a:ext cx="7225903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Penyimpanan Eksternal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97646"/>
            <a:ext cx="5050631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Firebase Realtime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923407"/>
            <a:ext cx="4810125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75569"/>
                </a:solidFill>
                <a:latin typeface="Plus Jakarta Sans"/>
              </a:rPr>
              <a:t>Layanan komputasi awan modern pengelola sinkronisasi data antar klien secara instan tanpa infrastruktur server mandiri.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2181225"/>
            <a:ext cx="54768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EA580C"/>
                </a:solidFill>
                <a:latin typeface="Plus Jakarta Sans"/>
              </a:rPr>
              <a:t>Arsitektur NoSQL &amp;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2590800"/>
            <a:ext cx="481012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Plus Jakarta Sans"/>
              </a:rPr>
              <a:t>Penyimpanan data format JSON hierarkis dinamis menggantikan aturan tabel relasional.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3429000"/>
            <a:ext cx="54768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EA580C"/>
                </a:solidFill>
                <a:latin typeface="Plus Jakarta Sans"/>
              </a:rPr>
              <a:t>Sinkronisasi Realtime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5125" y="3838575"/>
            <a:ext cx="481012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Plus Jakarta Sans"/>
              </a:rPr>
              <a:t>Pembaruan state data antarmuka secara serentak dalam hitungan milidetik.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4676775"/>
            <a:ext cx="54768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EA580C"/>
                </a:solidFill>
                <a:latin typeface="Plus Jakarta Sans"/>
              </a:rPr>
              <a:t>Dukungan Luring Tangguh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5086350"/>
            <a:ext cx="481012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Plus Jakarta Sans"/>
              </a:rPr>
              <a:t>Pengamanan sinkronisasi modifikasi memori lokal selama koneksi jaringan terputus.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676275"/>
            <a:ext cx="914400" cy="352425"/>
          </a:xfrm>
          <a:prstGeom prst="roundRect">
            <a:avLst>
              <a:gd name="adj" fmla="val 16216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75748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367188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458628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57925" y="3676650"/>
            <a:ext cx="2896046" cy="3429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52475"/>
            <a:ext cx="704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BAB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09600"/>
            <a:ext cx="7075884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Alur Integrasi Proyek 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275748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4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2600" y="2776537"/>
            <a:ext cx="97726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Registrasi Konsol Firebase:</a:t>
            </a:r>
            <a:r>
              <a:rPr b="0" sz="1800" i="0" u="none">
                <a:solidFill>
                  <a:srgbClr val="475569"/>
                </a:solidFill>
                <a:latin typeface="Plus Jakarta Sans"/>
              </a:rPr>
              <a:t> Pembuatan proyek baru dan pendaftaran nama paket aplikasi (package name) secara identik.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367188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4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2600" y="3686175"/>
            <a:ext cx="977265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Injeksi Berkas Konfigurasi:</a:t>
            </a:r>
            <a:r>
              <a:rPr b="0" sz="1800" i="0" u="none">
                <a:solidFill>
                  <a:srgbClr val="475569"/>
                </a:solidFill>
                <a:latin typeface="Plus Jakarta Sans"/>
              </a:rPr>
              <a:t> Pengunduhan dan penempatan pada root direktori modul aplikasi.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" y="458628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40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2600" y="4605337"/>
            <a:ext cx="97726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Deklarasi Dependensi SDK:</a:t>
            </a:r>
            <a:r>
              <a:rPr b="0" sz="1800" i="0" u="none">
                <a:solidFill>
                  <a:srgbClr val="475569"/>
                </a:solidFill>
                <a:latin typeface="Plus Jakarta Sans"/>
              </a:rPr>
              <a:t> Penambahan plugin Google Services pada Gradle dan implementasi pustaka Firebase Database.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4125" y="3714750"/>
            <a:ext cx="28388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monospace"/>
              </a:rPr>
              <a:t>google-services.json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676275"/>
            <a:ext cx="914400" cy="352425"/>
          </a:xfrm>
          <a:prstGeom prst="roundRect">
            <a:avLst>
              <a:gd name="adj" fmla="val 16216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309812"/>
            <a:ext cx="5105400" cy="3333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2457450"/>
            <a:ext cx="5105400" cy="3038475"/>
          </a:xfrm>
          <a:prstGeom prst="roundRect">
            <a:avLst>
              <a:gd name="adj" fmla="val 50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309812"/>
            <a:ext cx="76200" cy="33337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4600" y="2457450"/>
            <a:ext cx="76200" cy="30384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52700" y="3100387"/>
            <a:ext cx="1295697" cy="3048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9975" y="4729162"/>
            <a:ext cx="1638597" cy="3048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0050" y="3248025"/>
            <a:ext cx="2210246" cy="3048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4062412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4691062"/>
            <a:ext cx="17145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752475"/>
            <a:ext cx="704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Plus Jakarta Sans"/>
              </a:rPr>
              <a:t>BAB 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609600"/>
            <a:ext cx="9638704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Implementasi Logika Operasional CRUD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2690812"/>
            <a:ext cx="53340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B82F6"/>
                </a:solidFill>
                <a:latin typeface="Plus Jakarta Sans"/>
              </a:rPr>
              <a:t>Metode Write &amp;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3100387"/>
            <a:ext cx="43624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Plus Jakarta Sans"/>
              </a:rPr>
              <a:t>Penggunaan untuk menulis objek data baru atau menimpa nilai referensi spesifik eksisting.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052887"/>
            <a:ext cx="53340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B82F6"/>
                </a:solidFill>
                <a:latin typeface="Plus Jakarta Sans"/>
              </a:rPr>
              <a:t>Metode Delete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4462462"/>
            <a:ext cx="43624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Plus Jakarta Sans"/>
              </a:rPr>
              <a:t>Penghapusan presisi node data menggunakan perintah pada percabangan referensi unik.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2838450"/>
            <a:ext cx="53340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Metode Read (Pemantauan)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3248025"/>
            <a:ext cx="4362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Plus Jakarta Sans"/>
              </a:rPr>
              <a:t>Penanaman pada akar referensi DatabaseReference.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8900" y="3138487"/>
            <a:ext cx="123854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monospace"/>
              </a:rPr>
              <a:t>setValue()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6175" y="4767262"/>
            <a:ext cx="158144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monospace"/>
              </a:rPr>
              <a:t>removeValue()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86125"/>
            <a:ext cx="21530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monospace"/>
              </a:rPr>
              <a:t>ValueEventListener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5650" y="4010025"/>
            <a:ext cx="4038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Data dipanggil utuh melalui perulangan DataSnapshot.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5650" y="4638675"/>
            <a:ext cx="4038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Pembaruan ListView antarmuka dipicu seketika (realtime callback).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3576637"/>
            <a:ext cx="76200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70696" y="2586037"/>
            <a:ext cx="4850606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Plus Jakarta Sans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